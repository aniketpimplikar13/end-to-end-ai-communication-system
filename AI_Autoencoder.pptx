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76" r:id="rId7"/>
    <p:sldId id="277" r:id="rId8"/>
    <p:sldId id="278" r:id="rId9"/>
    <p:sldId id="271" r:id="rId10"/>
    <p:sldId id="266" r:id="rId11"/>
    <p:sldId id="265" r:id="rId12"/>
    <p:sldId id="268" r:id="rId13"/>
    <p:sldId id="269" r:id="rId14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2D153C-C6CC-432C-ABE7-E4D5EE103597}">
  <a:tblStyle styleId="{502D153C-C6CC-432C-ABE7-E4D5EE1035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21521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" name="Google Shape;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1055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7930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75791b09a5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75791b09a5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912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7505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75791b09a5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75791b09a5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4640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6200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6958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1635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5791b09a5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5791b09a5_1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2780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0" y="5045075"/>
            <a:ext cx="9144000" cy="98425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150" y="444500"/>
            <a:ext cx="85217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150" y="1266825"/>
            <a:ext cx="85217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1000"/>
              <a:buFont typeface="Open Sans"/>
              <a:buNone/>
              <a:defRPr sz="1000" b="0" i="0" u="non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2000" y="0"/>
            <a:ext cx="9060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700" b="1" u="sng" dirty="0">
                <a:solidFill>
                  <a:srgbClr val="EF6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700" b="1" u="sng" dirty="0">
                <a:solidFill>
                  <a:srgbClr val="EF6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700" b="1" u="sng" dirty="0">
                <a:solidFill>
                  <a:srgbClr val="EF6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700" b="1" u="sng" dirty="0">
                <a:solidFill>
                  <a:srgbClr val="EF6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700" b="1" u="sng" dirty="0">
                <a:solidFill>
                  <a:srgbClr val="EF6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700" b="1" u="sng" dirty="0">
                <a:solidFill>
                  <a:srgbClr val="EF6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Title: End to End AI Communication System</a:t>
            </a:r>
            <a:endParaRPr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 sz="3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T Sans Narrow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948225" y="1235300"/>
            <a:ext cx="626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3434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1202025" y="3767775"/>
            <a:ext cx="6547500" cy="100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Aniket Pimplikar </a:t>
            </a:r>
            <a:endParaRPr sz="1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Electronics and Communication Engineering</a:t>
            </a:r>
            <a:endParaRPr sz="1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311100" y="116300"/>
            <a:ext cx="85218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 b="1" i="0" u="none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 Narrow"/>
              </a:rPr>
              <a:t>Introduction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53742" y="1119180"/>
            <a:ext cx="8520600" cy="3302700"/>
          </a:xfrm>
        </p:spPr>
        <p:txBody>
          <a:bodyPr/>
          <a:lstStyle/>
          <a:p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 systems send information using signals that travel through noisy channels.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Classical methods like QPSK work well only when the signal phase is perfectly aligned.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real-world systems, phase noise rotates the signal and reduces accuracy.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AI-based communication can learn how to handle noise and distortion automatically.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compares classical QPSK with an AI </a:t>
            </a:r>
            <a:r>
              <a:rPr lang="en-US" sz="1600" dirty="0" err="1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</a:t>
            </a: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system to show how AI performs better under phase noise.</a:t>
            </a:r>
          </a:p>
          <a:p>
            <a:pPr>
              <a:buNone/>
            </a:pP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b="1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311700" y="19765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 Narrow"/>
              </a:rPr>
              <a:t>Objective of Project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43231" y="1045607"/>
            <a:ext cx="8520600" cy="330270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design an AI-based end-to-end communication system using </a:t>
            </a:r>
            <a:r>
              <a:rPr lang="en-US" sz="1600" dirty="0" err="1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autoencoders</a:t>
            </a: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None/>
            </a:pP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/>
              <a:buChar char="•"/>
            </a:pP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model a realistic wireless channel with AWGN + random phase noise.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/>
              <a:buChar char="•"/>
            </a:pP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demonstrate the limitations of classical QPSK under phase noise.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/>
              <a:buChar char="•"/>
            </a:pP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train a neural transmitter and receiver that can learn phase-robust modulation and demodulation.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/>
              <a:buChar char="•"/>
            </a:pP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compare the Bit Error Rate (BER) performance of AI-based communication with classical QPSK.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/>
              <a:buChar char="•"/>
            </a:pP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show that an AI-optimized waveform can significantly outperform traditional modulation in non-ideal channels.</a:t>
            </a:r>
          </a:p>
          <a:p>
            <a:pPr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311100" y="73400"/>
            <a:ext cx="8521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 b="1" i="0" u="none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 Narrow"/>
              </a:rPr>
              <a:t>Literature Survey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C1D097-53C7-B3A1-AA83-84AA06049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254096"/>
              </p:ext>
            </p:extLst>
          </p:nvPr>
        </p:nvGraphicFramePr>
        <p:xfrm>
          <a:off x="386576" y="781399"/>
          <a:ext cx="8446324" cy="3566160"/>
        </p:xfrm>
        <a:graphic>
          <a:graphicData uri="http://schemas.openxmlformats.org/drawingml/2006/table">
            <a:tbl>
              <a:tblPr firstRow="1" bandRow="1">
                <a:tableStyleId>{502D153C-C6CC-432C-ABE7-E4D5EE103597}</a:tableStyleId>
              </a:tblPr>
              <a:tblGrid>
                <a:gridCol w="2111581">
                  <a:extLst>
                    <a:ext uri="{9D8B030D-6E8A-4147-A177-3AD203B41FA5}">
                      <a16:colId xmlns:a16="http://schemas.microsoft.com/office/drawing/2014/main" val="3975465333"/>
                    </a:ext>
                  </a:extLst>
                </a:gridCol>
                <a:gridCol w="2111581">
                  <a:extLst>
                    <a:ext uri="{9D8B030D-6E8A-4147-A177-3AD203B41FA5}">
                      <a16:colId xmlns:a16="http://schemas.microsoft.com/office/drawing/2014/main" val="2903682008"/>
                    </a:ext>
                  </a:extLst>
                </a:gridCol>
                <a:gridCol w="2111581">
                  <a:extLst>
                    <a:ext uri="{9D8B030D-6E8A-4147-A177-3AD203B41FA5}">
                      <a16:colId xmlns:a16="http://schemas.microsoft.com/office/drawing/2014/main" val="3684535343"/>
                    </a:ext>
                  </a:extLst>
                </a:gridCol>
                <a:gridCol w="2111581">
                  <a:extLst>
                    <a:ext uri="{9D8B030D-6E8A-4147-A177-3AD203B41FA5}">
                      <a16:colId xmlns:a16="http://schemas.microsoft.com/office/drawing/2014/main" val="2606634802"/>
                    </a:ext>
                  </a:extLst>
                </a:gridCol>
              </a:tblGrid>
              <a:tr h="469775">
                <a:tc>
                  <a:txBody>
                    <a:bodyPr/>
                    <a:lstStyle/>
                    <a:p>
                      <a:r>
                        <a:rPr lang="en-IN" sz="1200" dirty="0"/>
                        <a:t>Sr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Paper/Patent Title or other literature referred</a:t>
                      </a:r>
                      <a:endParaRPr lang="en-US" sz="12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Indexing and Year of Publication/patent No./ISBN No.</a:t>
                      </a:r>
                      <a:endParaRPr lang="en-US" sz="12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Remarks</a:t>
                      </a:r>
                      <a:endParaRPr lang="en-IN" sz="1200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737320"/>
                  </a:ext>
                </a:extLst>
              </a:tr>
              <a:tr h="1291881">
                <a:tc>
                  <a:txBody>
                    <a:bodyPr/>
                    <a:lstStyle/>
                    <a:p>
                      <a:r>
                        <a:rPr lang="en-IN" sz="1200" dirty="0"/>
                        <a:t>1.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An Introduction to Deep Learning for the Physical Layer</a:t>
                      </a:r>
                      <a:r>
                        <a:rPr lang="en-US" sz="1200" dirty="0"/>
                        <a:t> – O’Shea &amp; </a:t>
                      </a:r>
                      <a:r>
                        <a:rPr lang="en-US" sz="1200" dirty="0" err="1"/>
                        <a:t>Hoydis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IEEE Transactions on Cognitive Communications and Networking, 2017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This paper introduced the concept of treating the communication system as an end-to-end autoencoder, showing that learned modulations can match or outperform traditional methods like QPSK.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651988"/>
                  </a:ext>
                </a:extLst>
              </a:tr>
              <a:tr h="1154863">
                <a:tc>
                  <a:txBody>
                    <a:bodyPr/>
                    <a:lstStyle/>
                    <a:p>
                      <a:r>
                        <a:rPr lang="en-IN" sz="12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Deep Learning–Based Communication Over the Air</a:t>
                      </a:r>
                      <a:r>
                        <a:rPr lang="en-US" sz="1200" dirty="0"/>
                        <a:t> – </a:t>
                      </a:r>
                      <a:r>
                        <a:rPr lang="en-US" sz="1200" dirty="0" err="1"/>
                        <a:t>Dörner</a:t>
                      </a:r>
                      <a:r>
                        <a:rPr lang="en-US" sz="1200" dirty="0"/>
                        <a:t> et al.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IEEE Journal on Selected Areas in Communications, 2018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Demonstrated the first real-world over-the-air autoencoder communication system, proving practical feasibility under actual wireless channel impairments.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2067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311700" y="2100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 Narrow"/>
              </a:rPr>
              <a:t>Literature Survey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C06373-36B4-5507-BEE7-66BA6839E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794611"/>
              </p:ext>
            </p:extLst>
          </p:nvPr>
        </p:nvGraphicFramePr>
        <p:xfrm>
          <a:off x="311699" y="917400"/>
          <a:ext cx="8520600" cy="3749040"/>
        </p:xfrm>
        <a:graphic>
          <a:graphicData uri="http://schemas.openxmlformats.org/drawingml/2006/table">
            <a:tbl>
              <a:tblPr firstRow="1" bandRow="1">
                <a:tableStyleId>{502D153C-C6CC-432C-ABE7-E4D5EE103597}</a:tableStyleId>
              </a:tblPr>
              <a:tblGrid>
                <a:gridCol w="2130150">
                  <a:extLst>
                    <a:ext uri="{9D8B030D-6E8A-4147-A177-3AD203B41FA5}">
                      <a16:colId xmlns:a16="http://schemas.microsoft.com/office/drawing/2014/main" val="2788316968"/>
                    </a:ext>
                  </a:extLst>
                </a:gridCol>
                <a:gridCol w="2130150">
                  <a:extLst>
                    <a:ext uri="{9D8B030D-6E8A-4147-A177-3AD203B41FA5}">
                      <a16:colId xmlns:a16="http://schemas.microsoft.com/office/drawing/2014/main" val="2096912530"/>
                    </a:ext>
                  </a:extLst>
                </a:gridCol>
                <a:gridCol w="2130150">
                  <a:extLst>
                    <a:ext uri="{9D8B030D-6E8A-4147-A177-3AD203B41FA5}">
                      <a16:colId xmlns:a16="http://schemas.microsoft.com/office/drawing/2014/main" val="2533217711"/>
                    </a:ext>
                  </a:extLst>
                </a:gridCol>
                <a:gridCol w="2130150">
                  <a:extLst>
                    <a:ext uri="{9D8B030D-6E8A-4147-A177-3AD203B41FA5}">
                      <a16:colId xmlns:a16="http://schemas.microsoft.com/office/drawing/2014/main" val="988874735"/>
                    </a:ext>
                  </a:extLst>
                </a:gridCol>
              </a:tblGrid>
              <a:tr h="656183">
                <a:tc>
                  <a:txBody>
                    <a:bodyPr/>
                    <a:lstStyle/>
                    <a:p>
                      <a:r>
                        <a:rPr lang="en-IN" sz="12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Deep Learning for Channel Estimation and Signal Detection in OFDM Systems</a:t>
                      </a:r>
                      <a:r>
                        <a:rPr lang="en-US" sz="1200" dirty="0"/>
                        <a:t> – Ye et al.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IEEE Transactions on Signal Processing,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Proposed DL-based channel estimation and detection that significantly improves performance in nonlinear or time-varying OFDM channels.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474892"/>
                  </a:ext>
                </a:extLst>
              </a:tr>
              <a:tr h="656183">
                <a:tc>
                  <a:txBody>
                    <a:bodyPr/>
                    <a:lstStyle/>
                    <a:p>
                      <a:r>
                        <a:rPr lang="en-IN" sz="12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Deep Learning–Based MIMO Detection</a:t>
                      </a:r>
                      <a:r>
                        <a:rPr lang="en-US" sz="1200" dirty="0"/>
                        <a:t> – </a:t>
                      </a:r>
                      <a:r>
                        <a:rPr lang="en-US" sz="1200" dirty="0" err="1"/>
                        <a:t>Balatsoukas</a:t>
                      </a:r>
                      <a:r>
                        <a:rPr lang="en-US" sz="1200" dirty="0"/>
                        <a:t>-Stimming &amp; Studer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IEEE International Workshop on Signal Processing Systems (</a:t>
                      </a:r>
                      <a:r>
                        <a:rPr lang="en-US" sz="1200" dirty="0" err="1"/>
                        <a:t>SiPS</a:t>
                      </a:r>
                      <a:r>
                        <a:rPr lang="en-US" sz="1200" dirty="0"/>
                        <a:t>), 2018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Showed that neural networks can achieve near–ML detection performance while maintaining low complexity, useful for MIMO autoencoder systems.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791742"/>
                  </a:ext>
                </a:extLst>
              </a:tr>
              <a:tr h="656183">
                <a:tc>
                  <a:txBody>
                    <a:bodyPr/>
                    <a:lstStyle/>
                    <a:p>
                      <a:r>
                        <a:rPr lang="en-IN" sz="12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RF Imperfections in High-Rate Wireless Systems</a:t>
                      </a:r>
                      <a:r>
                        <a:rPr lang="en-US" sz="1200" dirty="0"/>
                        <a:t> – Schenk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Springer, 2008 (Book)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Provides detailed analysis of RF hardware impairments like IQ imbalance and phase noise, highlighting how traditional constellations (e.g., QPSK) degrade under real-world imperfections.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878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334BF-FA48-8713-231D-58C390BA7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3576" y="283779"/>
            <a:ext cx="2169172" cy="574475"/>
          </a:xfrm>
        </p:spPr>
        <p:txBody>
          <a:bodyPr/>
          <a:lstStyle/>
          <a:p>
            <a:pPr algn="ct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0C8DFF-4F0A-B897-BC33-7EB31FF72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"/>
            <a:ext cx="914400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63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8FF91-AF7C-8563-BC50-532B34CAA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Formulas used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4B630-628A-5FD5-F47A-FB9826443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AWGN Noise Variance Formula: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Noise Rotation Formula: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QPSK Symbol mapping Formula:</a:t>
            </a:r>
          </a:p>
          <a:p>
            <a:pPr marL="114300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officeArt object">
            <a:extLst>
              <a:ext uri="{FF2B5EF4-FFF2-40B4-BE49-F238E27FC236}">
                <a16:creationId xmlns:a16="http://schemas.microsoft.com/office/drawing/2014/main" id="{7F0764B7-24CB-0567-2036-528361DC41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737610" y="1144526"/>
            <a:ext cx="1668780" cy="112839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5" name="officeArt object">
            <a:extLst>
              <a:ext uri="{FF2B5EF4-FFF2-40B4-BE49-F238E27FC236}">
                <a16:creationId xmlns:a16="http://schemas.microsoft.com/office/drawing/2014/main" id="{174DAA8F-5ECA-3E0E-7E35-6E280D80724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446145" y="2311462"/>
            <a:ext cx="2251710" cy="111823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6E1F1403-F415-CF4E-7960-E47A20A3A4E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11278" y="3429697"/>
            <a:ext cx="2270125" cy="92329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529F51-5599-C16E-B9BC-A41A1C9DC746}"/>
              </a:ext>
            </a:extLst>
          </p:cNvPr>
          <p:cNvCxnSpPr>
            <a:cxnSpLocks/>
          </p:cNvCxnSpPr>
          <p:nvPr/>
        </p:nvCxnSpPr>
        <p:spPr>
          <a:xfrm>
            <a:off x="408878" y="3429697"/>
            <a:ext cx="8341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7A9957-13F7-2A18-AD5E-83E3B5BE1AA6}"/>
              </a:ext>
            </a:extLst>
          </p:cNvPr>
          <p:cNvCxnSpPr>
            <a:cxnSpLocks/>
          </p:cNvCxnSpPr>
          <p:nvPr/>
        </p:nvCxnSpPr>
        <p:spPr>
          <a:xfrm>
            <a:off x="408878" y="2256891"/>
            <a:ext cx="8341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110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E20D2-12E2-EDD7-8357-9B475A4EC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42104"/>
            <a:ext cx="8520600" cy="4301396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Theoretical BER formula for QPSK in AWGN: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Normalization formula (AI Transmitter):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Signal Power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Calculartion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pic>
        <p:nvPicPr>
          <p:cNvPr id="4" name="officeArt object">
            <a:extLst>
              <a:ext uri="{FF2B5EF4-FFF2-40B4-BE49-F238E27FC236}">
                <a16:creationId xmlns:a16="http://schemas.microsoft.com/office/drawing/2014/main" id="{F5D641FC-BB9B-8718-7A61-B77B7CACA2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71999" y="718015"/>
            <a:ext cx="2683727" cy="84986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5" name="officeArt object">
            <a:extLst>
              <a:ext uri="{FF2B5EF4-FFF2-40B4-BE49-F238E27FC236}">
                <a16:creationId xmlns:a16="http://schemas.microsoft.com/office/drawing/2014/main" id="{83DDD3BE-F216-4FDA-197B-616E1BB5B24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882341" y="1449334"/>
            <a:ext cx="2031521" cy="84986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id="{B2FF9E6D-55A5-EEDC-A29F-08701DB3EA7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354875" y="2515188"/>
            <a:ext cx="1388110" cy="56033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40F2F1-80D8-71D1-985B-C7A7C345FF79}"/>
              </a:ext>
            </a:extLst>
          </p:cNvPr>
          <p:cNvCxnSpPr>
            <a:cxnSpLocks/>
          </p:cNvCxnSpPr>
          <p:nvPr/>
        </p:nvCxnSpPr>
        <p:spPr>
          <a:xfrm>
            <a:off x="401443" y="1567878"/>
            <a:ext cx="8341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55F736-A6EF-3C55-6CBA-DB90C93F7D11}"/>
              </a:ext>
            </a:extLst>
          </p:cNvPr>
          <p:cNvCxnSpPr>
            <a:cxnSpLocks/>
          </p:cNvCxnSpPr>
          <p:nvPr/>
        </p:nvCxnSpPr>
        <p:spPr>
          <a:xfrm>
            <a:off x="401443" y="2370449"/>
            <a:ext cx="8341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8A38B7-DE80-824E-8E03-3CEB3D779C91}"/>
              </a:ext>
            </a:extLst>
          </p:cNvPr>
          <p:cNvCxnSpPr>
            <a:cxnSpLocks/>
          </p:cNvCxnSpPr>
          <p:nvPr/>
        </p:nvCxnSpPr>
        <p:spPr>
          <a:xfrm>
            <a:off x="401443" y="3165438"/>
            <a:ext cx="8341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974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3E98F1B-F52A-1C13-FA11-23B37E0C1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2797642"/>
            <a:ext cx="65" cy="24006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 descr="C:\Users\EDC2\Downloads\WhatsApp Image 2025-11-18 at 12.24.29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7491"/>
            <a:ext cx="9144000" cy="44362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4022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279619" y="141564"/>
            <a:ext cx="8521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EF6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 Narrow"/>
              </a:rPr>
              <a:t>Impacts</a:t>
            </a:r>
            <a:endParaRPr sz="3600" b="1">
              <a:solidFill>
                <a:srgbClr val="EF6C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PT Sans Narrow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0414" y="884622"/>
            <a:ext cx="8135007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:1. </a:t>
            </a:r>
            <a:r>
              <a:rPr lang="en-US" sz="1600" b="1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Reliability:</a:t>
            </a: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AI-based modulation significantly reduces BER under phase noise, making communication more robust in real-world conditions.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600" b="1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Hardware Complexity:</a:t>
            </a: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Eliminates the need for complex PLLs and phase estimators used in classical QPSK receivers.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Better Performance in Low-Cost Devices:</a:t>
            </a: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Enables stable communication even with oscillators that introduce high phase noise (</a:t>
            </a:r>
            <a:r>
              <a:rPr lang="en-US" sz="1600" dirty="0" err="1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low-power radios).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 6G-Ready Technology:</a:t>
            </a: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Demonstrates how AI can optimize physical-layer design, supporting future intelligent and adaptive communication systems.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Enhanced System Efficiency: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Learns optimal signal representations automatically, achieving performance gains without additional bandwidth or power.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you want, I can also provide a 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detailed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or 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application-focused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impact version.</a:t>
            </a:r>
          </a:p>
          <a:p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0" y="129189"/>
            <a:ext cx="85217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 b="1" i="0" u="none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 Narrow"/>
              </a:rPr>
              <a:t>Conclusion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3476" y="851339"/>
            <a:ext cx="8219089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end-to-end </a:t>
            </a:r>
            <a:r>
              <a:rPr lang="en-US" sz="1600" b="1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AI-based communication system</a:t>
            </a: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was successfully implemented using an </a:t>
            </a:r>
            <a:r>
              <a:rPr lang="en-US" sz="1600" dirty="0" err="1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</a:t>
            </a: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600" b="1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noise severely degrades</a:t>
            </a: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the performance of classical QPSK due to reliance on coherent detection.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AI model learned </a:t>
            </a:r>
            <a:r>
              <a:rPr lang="en-US" sz="1600" b="1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phase-robust modulation and decoding</a:t>
            </a: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directly from channel conditions.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Across all SNR levels, the AI system achieved </a:t>
            </a:r>
            <a:r>
              <a:rPr lang="en-US" sz="1600" b="1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significantly lower BER</a:t>
            </a: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than traditional QPSK.</a:t>
            </a:r>
            <a:b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results show that </a:t>
            </a:r>
            <a:r>
              <a:rPr lang="en-US" sz="1600" b="1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can design more resilient physical-layer systems</a:t>
            </a:r>
            <a:r>
              <a:rPr lang="en-US" sz="1600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useful for future 6G communication.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195536" y="0"/>
            <a:ext cx="8521800" cy="56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 b="1" i="0" u="none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 Narrow"/>
              </a:rPr>
              <a:t>References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1740" y="399679"/>
            <a:ext cx="856593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[1]: https://arxiv.org/html/2502.21209v1?utm_source=chatgpt.com "End-to-End Deep Learning in Phase Noisy Coherent ...“</a:t>
            </a:r>
            <a:b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[2]: https://opg.optica.org/abstract.cfm?uri=OFC-2022-Th2A.32&amp;utm_source=chatgpt.com "Geometric Constellation Shaping for Phase-noise ...“</a:t>
            </a:r>
            <a:b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[3]: https://opg.optica.org/optcon/abstract.cfm?uri=optcon-2-6-1384&amp;utm_source=chatgpt.com "Initialized </a:t>
            </a:r>
            <a:r>
              <a:rPr lang="en-US" dirty="0" err="1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autoencoders</a:t>
            </a:r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find constellations robust ...“</a:t>
            </a:r>
            <a:b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[4]: https://arxiv.org/abs/2012.11227?utm_source=chatgpt.com "Gradient-free training of </a:t>
            </a:r>
            <a:r>
              <a:rPr lang="en-US" dirty="0" err="1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autoencoders</a:t>
            </a:r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non-differentiable communication channels“</a:t>
            </a:r>
            <a:b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[5]: https://eprints.soton.ac.uk/456045/1/ChinaCom2022_March.pdf?utm_source=chatgpt.com "</a:t>
            </a:r>
            <a:r>
              <a:rPr lang="en-US" dirty="0" err="1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</a:t>
            </a:r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fitting network for Terahertz wireless ...“</a:t>
            </a:r>
            <a:b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[6]: https://www.southampton.ac.uk/~sqc/listP/TCOM2021-Dec.pdf?utm_source=chatgpt.com "Deep Learning-Assisted </a:t>
            </a:r>
            <a:r>
              <a:rPr lang="en-US" dirty="0" err="1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TeraHertz</a:t>
            </a:r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QPSK Detection ...“</a:t>
            </a:r>
            <a:b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[7]: https://arxiv.org/abs/1906.07748?utm_source=chatgpt.com "Joint Learning of Geometric and Probabilistic Constellation Shaping"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322211" y="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T Sans Narrow"/>
              </a:rPr>
              <a:t>References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6841" y="754905"/>
            <a:ext cx="8408275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[8]: https://www.researchgate.net/publication/366277890_Autoencoder-Based_Four_Dimensional_Constellation_for_Phase_Noise_Channels?utm_source=chatgpt.com "</a:t>
            </a:r>
            <a:r>
              <a:rPr lang="en-US" dirty="0" err="1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</a:t>
            </a:r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-Based Four Dimensional Constellation for ...“</a:t>
            </a:r>
            <a:b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[9]: https://www.mdpi.com/2304-6732/10/7/809?utm_source=chatgpt.com "An Optimal Adaptive Constellation Design Utilizing ...“</a:t>
            </a:r>
            <a:b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[10]: https://arxiv.org/abs/1906.06563?utm_source=chatgpt.com "An End-to-End Block </a:t>
            </a:r>
            <a:r>
              <a:rPr lang="en-US" dirty="0" err="1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</a:t>
            </a:r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Physical Layer Based On Neural Networks“</a:t>
            </a:r>
            <a:b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[11]: https://research.chalmers.se/publication/539104/file/539104_Fulltext.pdf?utm_source=chatgpt.com "</a:t>
            </a:r>
            <a:r>
              <a:rPr lang="en-US" dirty="0" err="1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Autoencoders</a:t>
            </a:r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Physical-Layer“</a:t>
            </a:r>
            <a:b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[12]: https://www.sciencedirect.com/science/article/pii/S2666603020300270?utm_source=chatgpt.com "Emergence of deep learning as a potential solution for ...“</a:t>
            </a:r>
            <a:b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rgbClr val="0D0D0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[13]: https://ep.liu.se/ecp/008/posters/004/ecp00804p.pdf?utm_source=chatgpt.com "Estimation of Phase Noise for QPSK Modulation over ..."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1159</Words>
  <Application>Microsoft Office PowerPoint</Application>
  <PresentationFormat>On-screen Show (16:9)</PresentationFormat>
  <Paragraphs>96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Open Sans</vt:lpstr>
      <vt:lpstr>Calibri</vt:lpstr>
      <vt:lpstr>Arial</vt:lpstr>
      <vt:lpstr>3_Tropic</vt:lpstr>
      <vt:lpstr>     Project Title: End to End AI Communication System </vt:lpstr>
      <vt:lpstr>Introduction</vt:lpstr>
      <vt:lpstr>Objective of Project</vt:lpstr>
      <vt:lpstr>Literature Survey</vt:lpstr>
      <vt:lpstr>Literature Survey </vt:lpstr>
      <vt:lpstr>BLOCK DIAGRAM</vt:lpstr>
      <vt:lpstr>Formulas used </vt:lpstr>
      <vt:lpstr>PowerPoint Presentation</vt:lpstr>
      <vt:lpstr>PowerPoint Presentation</vt:lpstr>
      <vt:lpstr>Impacts</vt:lpstr>
      <vt:lpstr>Conclusion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Emotion Detection with Voice</dc:title>
  <dc:creator>MOHAMMED HUMAIR QURESHI</dc:creator>
  <cp:lastModifiedBy>Aniket Pimplikar</cp:lastModifiedBy>
  <cp:revision>36</cp:revision>
  <cp:lastPrinted>2025-08-28T04:17:28Z</cp:lastPrinted>
  <dcterms:modified xsi:type="dcterms:W3CDTF">2026-05-09T20:18:29Z</dcterms:modified>
</cp:coreProperties>
</file>